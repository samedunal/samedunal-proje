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7" r:id="rId3"/>
    <p:sldId id="258" r:id="rId4"/>
    <p:sldId id="264" r:id="rId5"/>
    <p:sldId id="265" r:id="rId6"/>
    <p:sldId id="261" r:id="rId7"/>
    <p:sldId id="266" r:id="rId8"/>
    <p:sldId id="259"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322"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C7C11DB6-05D4-472A-9554-ACD932B3513E}" type="datetimeFigureOut">
              <a:rPr lang="tr-TR" smtClean="0"/>
              <a:t>21.05.2025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9181BB0-7AF5-4E70-B7F3-7140FD5A718C}"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5762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7C11DB6-05D4-472A-9554-ACD932B3513E}" type="datetimeFigureOut">
              <a:rPr lang="tr-TR" smtClean="0"/>
              <a:t>21.05.2025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9181BB0-7AF5-4E70-B7F3-7140FD5A718C}" type="slidenum">
              <a:rPr lang="tr-TR" smtClean="0"/>
              <a:t>‹#›</a:t>
            </a:fld>
            <a:endParaRPr lang="tr-TR"/>
          </a:p>
        </p:txBody>
      </p:sp>
    </p:spTree>
    <p:extLst>
      <p:ext uri="{BB962C8B-B14F-4D97-AF65-F5344CB8AC3E}">
        <p14:creationId xmlns:p14="http://schemas.microsoft.com/office/powerpoint/2010/main" val="4052168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7C11DB6-05D4-472A-9554-ACD932B3513E}" type="datetimeFigureOut">
              <a:rPr lang="tr-TR" smtClean="0"/>
              <a:t>21.05.2025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9181BB0-7AF5-4E70-B7F3-7140FD5A718C}"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4930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C7C11DB6-05D4-472A-9554-ACD932B3513E}" type="datetimeFigureOut">
              <a:rPr lang="tr-TR" smtClean="0"/>
              <a:t>21.05.2025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9181BB0-7AF5-4E70-B7F3-7140FD5A718C}" type="slidenum">
              <a:rPr lang="tr-TR" smtClean="0"/>
              <a:t>‹#›</a:t>
            </a:fld>
            <a:endParaRPr lang="tr-TR"/>
          </a:p>
        </p:txBody>
      </p:sp>
    </p:spTree>
    <p:extLst>
      <p:ext uri="{BB962C8B-B14F-4D97-AF65-F5344CB8AC3E}">
        <p14:creationId xmlns:p14="http://schemas.microsoft.com/office/powerpoint/2010/main" val="203619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9728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1792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C7C11DB6-05D4-472A-9554-ACD932B3513E}" type="datetimeFigureOut">
              <a:rPr lang="tr-TR" smtClean="0"/>
              <a:t>21.05.2025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89181BB0-7AF5-4E70-B7F3-7140FD5A718C}" type="slidenum">
              <a:rPr lang="tr-TR" smtClean="0"/>
              <a:t>‹#›</a:t>
            </a:fld>
            <a:endParaRPr lang="tr-TR"/>
          </a:p>
        </p:txBody>
      </p:sp>
    </p:spTree>
    <p:extLst>
      <p:ext uri="{BB962C8B-B14F-4D97-AF65-F5344CB8AC3E}">
        <p14:creationId xmlns:p14="http://schemas.microsoft.com/office/powerpoint/2010/main" val="3240284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C7C11DB6-05D4-472A-9554-ACD932B3513E}" type="datetimeFigureOut">
              <a:rPr lang="tr-TR" smtClean="0"/>
              <a:t>21.05.2025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9181BB0-7AF5-4E70-B7F3-7140FD5A718C}" type="slidenum">
              <a:rPr lang="tr-TR" smtClean="0"/>
              <a:t>‹#›</a:t>
            </a:fld>
            <a:endParaRPr lang="tr-TR"/>
          </a:p>
        </p:txBody>
      </p:sp>
    </p:spTree>
    <p:extLst>
      <p:ext uri="{BB962C8B-B14F-4D97-AF65-F5344CB8AC3E}">
        <p14:creationId xmlns:p14="http://schemas.microsoft.com/office/powerpoint/2010/main" val="1444420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7C11DB6-05D4-472A-9554-ACD932B3513E}" type="datetimeFigureOut">
              <a:rPr lang="tr-TR" smtClean="0"/>
              <a:t>21.05.2025</a:t>
            </a:fld>
            <a:endParaRPr lang="tr-T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tr-TR"/>
          </a:p>
        </p:txBody>
      </p:sp>
      <p:sp>
        <p:nvSpPr>
          <p:cNvPr id="9" name="Slide Number Placeholder 8"/>
          <p:cNvSpPr>
            <a:spLocks noGrp="1"/>
          </p:cNvSpPr>
          <p:nvPr>
            <p:ph type="sldNum" sz="quarter" idx="12"/>
          </p:nvPr>
        </p:nvSpPr>
        <p:spPr/>
        <p:txBody>
          <a:bodyPr/>
          <a:lstStyle/>
          <a:p>
            <a:fld id="{89181BB0-7AF5-4E70-B7F3-7140FD5A718C}" type="slidenum">
              <a:rPr lang="tr-TR" smtClean="0"/>
              <a:t>‹#›</a:t>
            </a:fld>
            <a:endParaRPr lang="tr-TR"/>
          </a:p>
        </p:txBody>
      </p:sp>
    </p:spTree>
    <p:extLst>
      <p:ext uri="{BB962C8B-B14F-4D97-AF65-F5344CB8AC3E}">
        <p14:creationId xmlns:p14="http://schemas.microsoft.com/office/powerpoint/2010/main" val="3208410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7C11DB6-05D4-472A-9554-ACD932B3513E}" type="datetimeFigureOut">
              <a:rPr lang="tr-TR" smtClean="0"/>
              <a:t>21.05.2025</a:t>
            </a:fld>
            <a:endParaRPr lang="tr-T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tr-T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9181BB0-7AF5-4E70-B7F3-7140FD5A718C}" type="slidenum">
              <a:rPr lang="tr-TR" smtClean="0"/>
              <a:t>‹#›</a:t>
            </a:fld>
            <a:endParaRPr lang="tr-TR"/>
          </a:p>
        </p:txBody>
      </p:sp>
    </p:spTree>
    <p:extLst>
      <p:ext uri="{BB962C8B-B14F-4D97-AF65-F5344CB8AC3E}">
        <p14:creationId xmlns:p14="http://schemas.microsoft.com/office/powerpoint/2010/main" val="3344014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C7C11DB6-05D4-472A-9554-ACD932B3513E}" type="datetimeFigureOut">
              <a:rPr lang="tr-TR" smtClean="0"/>
              <a:t>21.05.2025</a:t>
            </a:fld>
            <a:endParaRPr lang="tr-T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9181BB0-7AF5-4E70-B7F3-7140FD5A718C}" type="slidenum">
              <a:rPr lang="tr-TR" smtClean="0"/>
              <a:t>‹#›</a:t>
            </a:fld>
            <a:endParaRPr lang="tr-TR"/>
          </a:p>
        </p:txBody>
      </p:sp>
    </p:spTree>
    <p:extLst>
      <p:ext uri="{BB962C8B-B14F-4D97-AF65-F5344CB8AC3E}">
        <p14:creationId xmlns:p14="http://schemas.microsoft.com/office/powerpoint/2010/main" val="2518360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7C11DB6-05D4-472A-9554-ACD932B3513E}" type="datetimeFigureOut">
              <a:rPr lang="tr-TR" smtClean="0"/>
              <a:t>21.05.2025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9181BB0-7AF5-4E70-B7F3-7140FD5A718C}" type="slidenum">
              <a:rPr lang="tr-TR" smtClean="0"/>
              <a:t>‹#›</a:t>
            </a:fld>
            <a:endParaRPr lang="tr-TR"/>
          </a:p>
        </p:txBody>
      </p:sp>
    </p:spTree>
    <p:extLst>
      <p:ext uri="{BB962C8B-B14F-4D97-AF65-F5344CB8AC3E}">
        <p14:creationId xmlns:p14="http://schemas.microsoft.com/office/powerpoint/2010/main" val="2129744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7C11DB6-05D4-472A-9554-ACD932B3513E}" type="datetimeFigureOut">
              <a:rPr lang="tr-TR" smtClean="0"/>
              <a:t>21.05.2025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9181BB0-7AF5-4E70-B7F3-7140FD5A718C}" type="slidenum">
              <a:rPr lang="tr-TR" smtClean="0"/>
              <a:t>‹#›</a:t>
            </a:fld>
            <a:endParaRPr lang="tr-TR"/>
          </a:p>
        </p:txBody>
      </p:sp>
    </p:spTree>
    <p:extLst>
      <p:ext uri="{BB962C8B-B14F-4D97-AF65-F5344CB8AC3E}">
        <p14:creationId xmlns:p14="http://schemas.microsoft.com/office/powerpoint/2010/main" val="2454560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7C11DB6-05D4-472A-9554-ACD932B3513E}" type="datetimeFigureOut">
              <a:rPr lang="tr-TR" smtClean="0"/>
              <a:t>21.05.2025</a:t>
            </a:fld>
            <a:endParaRPr lang="tr-T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tr-T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9181BB0-7AF5-4E70-B7F3-7140FD5A718C}" type="slidenum">
              <a:rPr lang="tr-TR" smtClean="0"/>
              <a:t>‹#›</a:t>
            </a:fld>
            <a:endParaRPr lang="tr-T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1450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9AC631C-4BCE-8F53-D56B-902810C588F0}"/>
              </a:ext>
            </a:extLst>
          </p:cNvPr>
          <p:cNvSpPr>
            <a:spLocks noGrp="1"/>
          </p:cNvSpPr>
          <p:nvPr>
            <p:ph type="ctrTitle"/>
          </p:nvPr>
        </p:nvSpPr>
        <p:spPr>
          <a:xfrm>
            <a:off x="1238865" y="207962"/>
            <a:ext cx="9144000" cy="2387600"/>
          </a:xfrm>
        </p:spPr>
        <p:txBody>
          <a:bodyPr/>
          <a:lstStyle/>
          <a:p>
            <a:pPr algn="ctr"/>
            <a:r>
              <a:rPr lang="en-US" sz="3600" kern="100">
                <a:effectLst/>
                <a:latin typeface="Calibri" panose="020F0502020204030204" pitchFamily="34" charset="0"/>
                <a:ea typeface="Calibri" panose="020F0502020204030204" pitchFamily="34" charset="0"/>
                <a:cs typeface="Times New Roman" panose="02020603050405020304" pitchFamily="18" charset="0"/>
              </a:rPr>
              <a:t>Data Intelligence and Decision Support Systems Project Assignment</a:t>
            </a:r>
            <a:br>
              <a:rPr lang="tr-TR" sz="1800" kern="100">
                <a:effectLst/>
                <a:latin typeface="Calibri" panose="020F0502020204030204" pitchFamily="34" charset="0"/>
                <a:ea typeface="Calibri" panose="020F0502020204030204" pitchFamily="34" charset="0"/>
                <a:cs typeface="Times New Roman" panose="02020603050405020304" pitchFamily="18" charset="0"/>
              </a:rPr>
            </a:br>
            <a:endParaRPr lang="tr-TR" dirty="0"/>
          </a:p>
        </p:txBody>
      </p:sp>
      <p:sp>
        <p:nvSpPr>
          <p:cNvPr id="3" name="Alt Başlık 2">
            <a:extLst>
              <a:ext uri="{FF2B5EF4-FFF2-40B4-BE49-F238E27FC236}">
                <a16:creationId xmlns:a16="http://schemas.microsoft.com/office/drawing/2014/main" id="{406897A5-FB0E-FF59-198E-56C2BE27D492}"/>
              </a:ext>
            </a:extLst>
          </p:cNvPr>
          <p:cNvSpPr>
            <a:spLocks noGrp="1"/>
          </p:cNvSpPr>
          <p:nvPr>
            <p:ph type="subTitle" idx="1"/>
          </p:nvPr>
        </p:nvSpPr>
        <p:spPr>
          <a:xfrm>
            <a:off x="1929860" y="4645068"/>
            <a:ext cx="9144000" cy="1655762"/>
          </a:xfrm>
        </p:spPr>
        <p:txBody>
          <a:bodyPr/>
          <a:lstStyle/>
          <a:p>
            <a:r>
              <a:rPr lang="tr-TR" dirty="0"/>
              <a:t>Anıl GÜNGÖR-Fevzi Samed ÜNAL-Furkan Tahir ANAÇ</a:t>
            </a:r>
          </a:p>
        </p:txBody>
      </p:sp>
      <p:pic>
        <p:nvPicPr>
          <p:cNvPr id="4" name="Resim 3">
            <a:extLst>
              <a:ext uri="{FF2B5EF4-FFF2-40B4-BE49-F238E27FC236}">
                <a16:creationId xmlns:a16="http://schemas.microsoft.com/office/drawing/2014/main" id="{D2A49BE9-0DEB-2610-D354-332D84FD620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8893" y="1737144"/>
            <a:ext cx="3443944" cy="2206623"/>
          </a:xfrm>
          <a:prstGeom prst="rect">
            <a:avLst/>
          </a:prstGeom>
          <a:noFill/>
          <a:ln>
            <a:noFill/>
          </a:ln>
        </p:spPr>
      </p:pic>
    </p:spTree>
    <p:extLst>
      <p:ext uri="{BB962C8B-B14F-4D97-AF65-F5344CB8AC3E}">
        <p14:creationId xmlns:p14="http://schemas.microsoft.com/office/powerpoint/2010/main" val="2439744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7">
            <a:extLst>
              <a:ext uri="{FF2B5EF4-FFF2-40B4-BE49-F238E27FC236}">
                <a16:creationId xmlns:a16="http://schemas.microsoft.com/office/drawing/2014/main" id="{5CF81D86-BDBA-477C-B7DD-8D359BB99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91BF335-F9F3-FF3E-5BC5-8B44ECF57AC4}"/>
              </a:ext>
            </a:extLst>
          </p:cNvPr>
          <p:cNvSpPr>
            <a:spLocks noGrp="1"/>
          </p:cNvSpPr>
          <p:nvPr>
            <p:ph type="title"/>
          </p:nvPr>
        </p:nvSpPr>
        <p:spPr>
          <a:xfrm>
            <a:off x="4974771" y="634946"/>
            <a:ext cx="6574972" cy="1450757"/>
          </a:xfrm>
        </p:spPr>
        <p:txBody>
          <a:bodyPr>
            <a:normAutofit/>
          </a:bodyPr>
          <a:lstStyle/>
          <a:p>
            <a:r>
              <a:rPr lang="tr-TR" dirty="0"/>
              <a:t>PROJE AMACI</a:t>
            </a:r>
            <a:endParaRPr lang="tr-TR"/>
          </a:p>
        </p:txBody>
      </p:sp>
      <p:pic>
        <p:nvPicPr>
          <p:cNvPr id="5" name="Picture 4">
            <a:extLst>
              <a:ext uri="{FF2B5EF4-FFF2-40B4-BE49-F238E27FC236}">
                <a16:creationId xmlns:a16="http://schemas.microsoft.com/office/drawing/2014/main" id="{9152BC54-9325-4DFE-4E46-8B3D98DB86C0}"/>
              </a:ext>
            </a:extLst>
          </p:cNvPr>
          <p:cNvPicPr>
            <a:picLocks noChangeAspect="1"/>
          </p:cNvPicPr>
          <p:nvPr/>
        </p:nvPicPr>
        <p:blipFill>
          <a:blip r:embed="rId2"/>
          <a:srcRect l="36612" r="21037" b="2"/>
          <a:stretch>
            <a:fillRect/>
          </a:stretch>
        </p:blipFill>
        <p:spPr>
          <a:xfrm>
            <a:off x="633999" y="640081"/>
            <a:ext cx="4001315" cy="5314406"/>
          </a:xfrm>
          <a:prstGeom prst="rect">
            <a:avLst/>
          </a:prstGeom>
        </p:spPr>
      </p:pic>
      <p:cxnSp>
        <p:nvCxnSpPr>
          <p:cNvPr id="26" name="Straight Connector 19">
            <a:extLst>
              <a:ext uri="{FF2B5EF4-FFF2-40B4-BE49-F238E27FC236}">
                <a16:creationId xmlns:a16="http://schemas.microsoft.com/office/drawing/2014/main" id="{C65F3E9C-EF11-4F8F-A621-399C7A3E6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01720F65-D4FF-A949-94F8-469F0835C6BF}"/>
              </a:ext>
            </a:extLst>
          </p:cNvPr>
          <p:cNvSpPr>
            <a:spLocks noGrp="1"/>
          </p:cNvSpPr>
          <p:nvPr>
            <p:ph idx="1"/>
          </p:nvPr>
        </p:nvSpPr>
        <p:spPr>
          <a:xfrm>
            <a:off x="4974769" y="2198914"/>
            <a:ext cx="6574973" cy="3670180"/>
          </a:xfrm>
        </p:spPr>
        <p:txBody>
          <a:bodyPr>
            <a:normAutofit/>
          </a:bodyPr>
          <a:lstStyle/>
          <a:p>
            <a:r>
              <a:rPr lang="tr-TR" sz="1700"/>
              <a:t>Mağazaya gelen müşterilerin çiçek talepleri ve satın alımları kayıt altına alınarak renk tercihlerine ilişkin verilerin sistematik olarak toplanması ve analiz edilmesi hedeflenmektedir. Bu süreçte her müşterinin talep ettiği çiçek türü ve rengi kayıt altına alınıp analiz edileceketir. Böylece müşteri eğilimleri, mevsimsel tercihler ve popüler çiçek renkleri gibi parametrelere ilişkin kapsamlı ve anlamlı bir veri seti oluşturulacaktır.</a:t>
            </a:r>
          </a:p>
          <a:p>
            <a:endParaRPr lang="tr-TR" sz="1700"/>
          </a:p>
          <a:p>
            <a:r>
              <a:rPr lang="tr-TR" sz="1700"/>
              <a:t>Bu projenin temel amacı, bir çiçek mağazasında faaliyet gösteren bir işletmenin stok ve satın alma süreçlerini veriye dayalı olarak yönetebilmesini sağlamaktır. Özellikle tercih edilmeyen, talebi düşük veya satılmayan çiçek renkleri yerine, müşteriler tarafından sıkça talep edilen renklerdeki çiçekleri stoklamak hem fire oranını azaltacak hem de müşteri memnuniyetini artıracaktır.</a:t>
            </a:r>
          </a:p>
          <a:p>
            <a:endParaRPr lang="tr-TR" sz="1700"/>
          </a:p>
        </p:txBody>
      </p:sp>
      <p:sp>
        <p:nvSpPr>
          <p:cNvPr id="27" name="Rectangle 21">
            <a:extLst>
              <a:ext uri="{FF2B5EF4-FFF2-40B4-BE49-F238E27FC236}">
                <a16:creationId xmlns:a16="http://schemas.microsoft.com/office/drawing/2014/main" id="{88AA064E-5F6E-4024-BC28-EDDC3DFC7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4" name="Rectangle 23">
            <a:extLst>
              <a:ext uri="{FF2B5EF4-FFF2-40B4-BE49-F238E27FC236}">
                <a16:creationId xmlns:a16="http://schemas.microsoft.com/office/drawing/2014/main" id="{03B29638-4838-4B9B-B9DB-96E542BAF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1770575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FC26921-907D-494B-F25D-861D995D8D21}"/>
              </a:ext>
            </a:extLst>
          </p:cNvPr>
          <p:cNvSpPr>
            <a:spLocks noGrp="1"/>
          </p:cNvSpPr>
          <p:nvPr>
            <p:ph type="title"/>
          </p:nvPr>
        </p:nvSpPr>
        <p:spPr/>
        <p:txBody>
          <a:bodyPr/>
          <a:lstStyle/>
          <a:p>
            <a:pPr algn="ctr"/>
            <a:r>
              <a:rPr lang="tr-TR" dirty="0"/>
              <a:t>PROJE HEDEFİ</a:t>
            </a:r>
          </a:p>
        </p:txBody>
      </p:sp>
      <p:sp>
        <p:nvSpPr>
          <p:cNvPr id="3" name="İçerik Yer Tutucusu 2">
            <a:extLst>
              <a:ext uri="{FF2B5EF4-FFF2-40B4-BE49-F238E27FC236}">
                <a16:creationId xmlns:a16="http://schemas.microsoft.com/office/drawing/2014/main" id="{65BC15C0-44F2-2A03-3913-E89B31A40B97}"/>
              </a:ext>
            </a:extLst>
          </p:cNvPr>
          <p:cNvSpPr>
            <a:spLocks noGrp="1"/>
          </p:cNvSpPr>
          <p:nvPr>
            <p:ph idx="1"/>
          </p:nvPr>
        </p:nvSpPr>
        <p:spPr/>
        <p:txBody>
          <a:bodyPr>
            <a:normAutofit/>
          </a:bodyPr>
          <a:lstStyle/>
          <a:p>
            <a:r>
              <a:rPr lang="tr-TR" dirty="0"/>
              <a:t>Bu analiz sistemi sayesinde mağaza;</a:t>
            </a:r>
          </a:p>
          <a:p>
            <a:pPr>
              <a:buFont typeface="Arial" panose="020B0604020202020204" pitchFamily="34" charset="0"/>
              <a:buChar char="•"/>
            </a:pPr>
            <a:r>
              <a:rPr lang="tr-TR" dirty="0"/>
              <a:t>Müşteri taleplerine daha hızlı yanıt verebilecek,</a:t>
            </a:r>
          </a:p>
          <a:p>
            <a:pPr>
              <a:buFont typeface="Arial" panose="020B0604020202020204" pitchFamily="34" charset="0"/>
              <a:buChar char="•"/>
            </a:pPr>
            <a:r>
              <a:rPr lang="tr-TR" dirty="0"/>
              <a:t> Raflarda daha doğru ürün çeşitliliği sunabilecek,</a:t>
            </a:r>
          </a:p>
          <a:p>
            <a:pPr>
              <a:buFont typeface="Arial" panose="020B0604020202020204" pitchFamily="34" charset="0"/>
              <a:buChar char="•"/>
            </a:pPr>
            <a:r>
              <a:rPr lang="tr-TR" dirty="0"/>
              <a:t> Mevsimsel eğilimlere ve mevsimsel renk tercihlerine göre planlama yapabilecek,</a:t>
            </a:r>
          </a:p>
          <a:p>
            <a:pPr>
              <a:buFont typeface="Arial" panose="020B0604020202020204" pitchFamily="34" charset="0"/>
              <a:buChar char="•"/>
            </a:pPr>
            <a:r>
              <a:rPr lang="tr-TR" dirty="0"/>
              <a:t> Arz-talep dengesi kurarak gereksiz maliyetlerden kaçınabilecektir.</a:t>
            </a:r>
          </a:p>
          <a:p>
            <a:r>
              <a:rPr lang="tr-TR" dirty="0"/>
              <a:t>Ayrıca proje, gelecekteki kampanya planlamalarında, özel günler için stok tahminlerinde ve tedarik zinciri kararlarında etkili olacak şekilde geliştirilebilecektir. Bu sayede mağaza sadece bugünün taleplerini karşılamakla kalmayacak, geleceğe yönelik stratejik kararlar alırken de bu veri yapısından faydalanabilecek.</a:t>
            </a:r>
          </a:p>
          <a:p>
            <a:endParaRPr lang="tr-TR" dirty="0"/>
          </a:p>
        </p:txBody>
      </p:sp>
    </p:spTree>
    <p:extLst>
      <p:ext uri="{BB962C8B-B14F-4D97-AF65-F5344CB8AC3E}">
        <p14:creationId xmlns:p14="http://schemas.microsoft.com/office/powerpoint/2010/main" val="4091057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033" name="Rectangle 1032">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2" name="Metin kutusu 11">
            <a:extLst>
              <a:ext uri="{FF2B5EF4-FFF2-40B4-BE49-F238E27FC236}">
                <a16:creationId xmlns:a16="http://schemas.microsoft.com/office/drawing/2014/main" id="{BE2BA555-E481-5662-8CA7-41E64CB55A17}"/>
              </a:ext>
            </a:extLst>
          </p:cNvPr>
          <p:cNvSpPr txBox="1"/>
          <p:nvPr/>
        </p:nvSpPr>
        <p:spPr>
          <a:xfrm>
            <a:off x="472933" y="218166"/>
            <a:ext cx="2762865" cy="800219"/>
          </a:xfrm>
          <a:prstGeom prst="rect">
            <a:avLst/>
          </a:prstGeom>
          <a:noFill/>
        </p:spPr>
        <p:txBody>
          <a:bodyPr wrap="square" rtlCol="0">
            <a:spAutoFit/>
          </a:bodyPr>
          <a:lstStyle/>
          <a:p>
            <a:r>
              <a:rPr lang="tr-TR" sz="2800" b="0" i="0" dirty="0">
                <a:effectLst/>
                <a:latin typeface="Aptos" panose="020B0004020202020204" pitchFamily="34" charset="0"/>
              </a:rPr>
              <a:t>AKIŞ DİYAGRAMI</a:t>
            </a:r>
          </a:p>
          <a:p>
            <a:endParaRPr lang="tr-TR" dirty="0"/>
          </a:p>
        </p:txBody>
      </p:sp>
      <p:sp>
        <p:nvSpPr>
          <p:cNvPr id="16" name="AutoShape 8">
            <a:extLst>
              <a:ext uri="{FF2B5EF4-FFF2-40B4-BE49-F238E27FC236}">
                <a16:creationId xmlns:a16="http://schemas.microsoft.com/office/drawing/2014/main" id="{3A52FF17-8CB5-02B6-1BBC-B34808A781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dirty="0"/>
          </a:p>
        </p:txBody>
      </p:sp>
      <p:pic>
        <p:nvPicPr>
          <p:cNvPr id="18" name="Resim 17" descr="metin, diyagram, ekran görüntüsü, Post-it notu içeren bir resim&#10;&#10;Yapay zeka tarafından oluşturulan içerik yanlış olabilir.">
            <a:extLst>
              <a:ext uri="{FF2B5EF4-FFF2-40B4-BE49-F238E27FC236}">
                <a16:creationId xmlns:a16="http://schemas.microsoft.com/office/drawing/2014/main" id="{6A22098A-BCA8-AEB7-54F9-6BCCFF57DA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431" y="758928"/>
            <a:ext cx="11708470" cy="5433528"/>
          </a:xfrm>
          <a:prstGeom prst="rect">
            <a:avLst/>
          </a:prstGeom>
        </p:spPr>
      </p:pic>
    </p:spTree>
    <p:extLst>
      <p:ext uri="{BB962C8B-B14F-4D97-AF65-F5344CB8AC3E}">
        <p14:creationId xmlns:p14="http://schemas.microsoft.com/office/powerpoint/2010/main" val="3134400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455C288-01AC-9000-5F0A-781FF74572A7}"/>
              </a:ext>
            </a:extLst>
          </p:cNvPr>
          <p:cNvSpPr>
            <a:spLocks noGrp="1"/>
          </p:cNvSpPr>
          <p:nvPr>
            <p:ph type="title"/>
          </p:nvPr>
        </p:nvSpPr>
        <p:spPr>
          <a:xfrm>
            <a:off x="1097279" y="729826"/>
            <a:ext cx="9906983" cy="518160"/>
          </a:xfrm>
        </p:spPr>
        <p:txBody>
          <a:bodyPr>
            <a:normAutofit/>
          </a:bodyPr>
          <a:lstStyle/>
          <a:p>
            <a:pPr algn="ctr">
              <a:spcBef>
                <a:spcPts val="900"/>
              </a:spcBef>
              <a:spcAft>
                <a:spcPts val="900"/>
              </a:spcAft>
            </a:pPr>
            <a:r>
              <a:rPr lang="tr-TR" sz="2800" b="0" i="0" dirty="0">
                <a:solidFill>
                  <a:schemeClr val="tx1"/>
                </a:solidFill>
                <a:effectLst/>
                <a:latin typeface="Aptos" panose="020B0004020202020204" pitchFamily="34" charset="0"/>
              </a:rPr>
              <a:t>Projeye ait veri seti nasıl kullanılmıştır?</a:t>
            </a:r>
            <a:endParaRPr lang="tr-TR" sz="2800" dirty="0">
              <a:solidFill>
                <a:schemeClr val="tx1"/>
              </a:solidFill>
            </a:endParaRPr>
          </a:p>
        </p:txBody>
      </p:sp>
      <p:sp>
        <p:nvSpPr>
          <p:cNvPr id="3" name="İçerik Yer Tutucusu 2">
            <a:extLst>
              <a:ext uri="{FF2B5EF4-FFF2-40B4-BE49-F238E27FC236}">
                <a16:creationId xmlns:a16="http://schemas.microsoft.com/office/drawing/2014/main" id="{DC10DBEE-9F5E-E1CC-EECA-74E1F5332BC1}"/>
              </a:ext>
            </a:extLst>
          </p:cNvPr>
          <p:cNvSpPr>
            <a:spLocks noGrp="1"/>
          </p:cNvSpPr>
          <p:nvPr>
            <p:ph idx="1"/>
          </p:nvPr>
        </p:nvSpPr>
        <p:spPr/>
        <p:txBody>
          <a:bodyPr/>
          <a:lstStyle/>
          <a:p>
            <a:pPr>
              <a:buFont typeface="Wingdings" panose="05000000000000000000" pitchFamily="2" charset="2"/>
              <a:buChar char="§"/>
            </a:pPr>
            <a:r>
              <a:rPr lang="tr-TR" dirty="0"/>
              <a:t>Veri Gruplama: Satış verileri, renk ve tür değişkenlerine göre gruplanır.</a:t>
            </a:r>
          </a:p>
          <a:p>
            <a:pPr>
              <a:buFont typeface="Wingdings" panose="05000000000000000000" pitchFamily="2" charset="2"/>
              <a:buChar char="§"/>
            </a:pPr>
            <a:r>
              <a:rPr lang="tr-TR" dirty="0"/>
              <a:t>Toplam Satış Hesaplama: Her grup için toplam satış adedi hesaplanır.</a:t>
            </a:r>
          </a:p>
          <a:p>
            <a:pPr>
              <a:buFont typeface="Wingdings" panose="05000000000000000000" pitchFamily="2" charset="2"/>
              <a:buChar char="§"/>
            </a:pPr>
            <a:r>
              <a:rPr lang="tr-TR" dirty="0"/>
              <a:t>Eğilim Belirleme: Elde edilen toplu değerler üzerinden, hangi renk ve türlerin daha fazla tercih edildiği tespit edilir.</a:t>
            </a:r>
          </a:p>
          <a:p>
            <a:pPr>
              <a:buFont typeface="Wingdings" panose="05000000000000000000" pitchFamily="2" charset="2"/>
              <a:buChar char="§"/>
            </a:pPr>
            <a:r>
              <a:rPr lang="tr-TR" dirty="0"/>
              <a:t>Grafiksel Gösterim: Bu analiz sonuçları kullanıcıya görsel olarak sunulur. Kullanıcının tercihine göre sütun grafiği ya da dairesel grafik (pasta grafiği) oluşturulur. Bu grafikler, satışların görselleştirilmesi yoluyla kolay yorumlanmasını sağlar.</a:t>
            </a:r>
          </a:p>
        </p:txBody>
      </p:sp>
    </p:spTree>
    <p:extLst>
      <p:ext uri="{BB962C8B-B14F-4D97-AF65-F5344CB8AC3E}">
        <p14:creationId xmlns:p14="http://schemas.microsoft.com/office/powerpoint/2010/main" val="3554516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4AE411C-2E47-DE5B-1CA4-6B58C68389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9844" y="1384539"/>
            <a:ext cx="5343525" cy="412432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Bağlayıcı: Eğri 5">
            <a:extLst>
              <a:ext uri="{FF2B5EF4-FFF2-40B4-BE49-F238E27FC236}">
                <a16:creationId xmlns:a16="http://schemas.microsoft.com/office/drawing/2014/main" id="{4EF9705C-FA03-6974-5F61-44F0A14D1ED0}"/>
              </a:ext>
            </a:extLst>
          </p:cNvPr>
          <p:cNvCxnSpPr>
            <a:cxnSpLocks/>
          </p:cNvCxnSpPr>
          <p:nvPr/>
        </p:nvCxnSpPr>
        <p:spPr>
          <a:xfrm rot="10800000">
            <a:off x="1959570" y="1421408"/>
            <a:ext cx="1025830" cy="829843"/>
          </a:xfrm>
          <a:prstGeom prst="curved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 name="Metin kutusu 6">
            <a:extLst>
              <a:ext uri="{FF2B5EF4-FFF2-40B4-BE49-F238E27FC236}">
                <a16:creationId xmlns:a16="http://schemas.microsoft.com/office/drawing/2014/main" id="{9A26B03E-4379-2F41-9B5C-21A31010980C}"/>
              </a:ext>
            </a:extLst>
          </p:cNvPr>
          <p:cNvSpPr txBox="1"/>
          <p:nvPr/>
        </p:nvSpPr>
        <p:spPr>
          <a:xfrm>
            <a:off x="561418" y="943444"/>
            <a:ext cx="2133600" cy="923330"/>
          </a:xfrm>
          <a:prstGeom prst="rect">
            <a:avLst/>
          </a:prstGeom>
          <a:noFill/>
        </p:spPr>
        <p:txBody>
          <a:bodyPr wrap="square" rtlCol="0">
            <a:spAutoFit/>
          </a:bodyPr>
          <a:lstStyle/>
          <a:p>
            <a:r>
              <a:rPr lang="tr-TR" b="1" dirty="0" err="1"/>
              <a:t>ComboBox</a:t>
            </a:r>
            <a:r>
              <a:rPr lang="tr-TR" b="1" dirty="0"/>
              <a:t>:  Çiçek rengini seçin</a:t>
            </a:r>
          </a:p>
          <a:p>
            <a:endParaRPr lang="tr-TR" dirty="0"/>
          </a:p>
        </p:txBody>
      </p:sp>
      <p:cxnSp>
        <p:nvCxnSpPr>
          <p:cNvPr id="9" name="Bağlayıcı: Eğri 8">
            <a:extLst>
              <a:ext uri="{FF2B5EF4-FFF2-40B4-BE49-F238E27FC236}">
                <a16:creationId xmlns:a16="http://schemas.microsoft.com/office/drawing/2014/main" id="{610FEDE5-0FB0-E403-FEFA-92C4CC2BBCED}"/>
              </a:ext>
            </a:extLst>
          </p:cNvPr>
          <p:cNvCxnSpPr/>
          <p:nvPr/>
        </p:nvCxnSpPr>
        <p:spPr>
          <a:xfrm flipV="1">
            <a:off x="5889522" y="741435"/>
            <a:ext cx="1297859" cy="1111046"/>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Metin kutusu 9">
            <a:extLst>
              <a:ext uri="{FF2B5EF4-FFF2-40B4-BE49-F238E27FC236}">
                <a16:creationId xmlns:a16="http://schemas.microsoft.com/office/drawing/2014/main" id="{2583F7DB-DCBA-4725-1E72-B7A220115A22}"/>
              </a:ext>
            </a:extLst>
          </p:cNvPr>
          <p:cNvSpPr txBox="1"/>
          <p:nvPr/>
        </p:nvSpPr>
        <p:spPr>
          <a:xfrm>
            <a:off x="7315200" y="255639"/>
            <a:ext cx="2369572" cy="646331"/>
          </a:xfrm>
          <a:prstGeom prst="rect">
            <a:avLst/>
          </a:prstGeom>
          <a:noFill/>
        </p:spPr>
        <p:txBody>
          <a:bodyPr wrap="square" rtlCol="0">
            <a:spAutoFit/>
          </a:bodyPr>
          <a:lstStyle/>
          <a:p>
            <a:r>
              <a:rPr lang="tr-TR" b="1" dirty="0" err="1"/>
              <a:t>ComboBox</a:t>
            </a:r>
            <a:r>
              <a:rPr lang="tr-TR" b="1" dirty="0"/>
              <a:t>: Çiçek türünü seçin</a:t>
            </a:r>
          </a:p>
        </p:txBody>
      </p:sp>
      <p:cxnSp>
        <p:nvCxnSpPr>
          <p:cNvPr id="12" name="Bağlayıcı: Eğri 11">
            <a:extLst>
              <a:ext uri="{FF2B5EF4-FFF2-40B4-BE49-F238E27FC236}">
                <a16:creationId xmlns:a16="http://schemas.microsoft.com/office/drawing/2014/main" id="{445DC5D9-F11A-CA55-1AEE-E6B77AF11C25}"/>
              </a:ext>
            </a:extLst>
          </p:cNvPr>
          <p:cNvCxnSpPr/>
          <p:nvPr/>
        </p:nvCxnSpPr>
        <p:spPr>
          <a:xfrm>
            <a:off x="8165380" y="2361641"/>
            <a:ext cx="934065" cy="541225"/>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3" name="Metin kutusu 12">
            <a:extLst>
              <a:ext uri="{FF2B5EF4-FFF2-40B4-BE49-F238E27FC236}">
                <a16:creationId xmlns:a16="http://schemas.microsoft.com/office/drawing/2014/main" id="{07AEDCD3-DA21-E6BC-5C98-29121E91526A}"/>
              </a:ext>
            </a:extLst>
          </p:cNvPr>
          <p:cNvSpPr txBox="1"/>
          <p:nvPr/>
        </p:nvSpPr>
        <p:spPr>
          <a:xfrm>
            <a:off x="9099445" y="2465097"/>
            <a:ext cx="1730478" cy="923330"/>
          </a:xfrm>
          <a:prstGeom prst="rect">
            <a:avLst/>
          </a:prstGeom>
          <a:noFill/>
        </p:spPr>
        <p:txBody>
          <a:bodyPr wrap="square" rtlCol="0">
            <a:spAutoFit/>
          </a:bodyPr>
          <a:lstStyle/>
          <a:p>
            <a:r>
              <a:rPr lang="tr-TR" b="1" dirty="0" err="1"/>
              <a:t>TextBox</a:t>
            </a:r>
            <a:r>
              <a:rPr lang="tr-TR" b="1" dirty="0"/>
              <a:t> : Satış miktarını girin</a:t>
            </a:r>
          </a:p>
          <a:p>
            <a:endParaRPr lang="tr-TR" dirty="0"/>
          </a:p>
        </p:txBody>
      </p:sp>
      <p:cxnSp>
        <p:nvCxnSpPr>
          <p:cNvPr id="15" name="Bağlayıcı: Eğri 14">
            <a:extLst>
              <a:ext uri="{FF2B5EF4-FFF2-40B4-BE49-F238E27FC236}">
                <a16:creationId xmlns:a16="http://schemas.microsoft.com/office/drawing/2014/main" id="{CFBA87D8-C296-64F2-DB60-5BA653C0EED8}"/>
              </a:ext>
            </a:extLst>
          </p:cNvPr>
          <p:cNvCxnSpPr>
            <a:cxnSpLocks/>
          </p:cNvCxnSpPr>
          <p:nvPr/>
        </p:nvCxnSpPr>
        <p:spPr>
          <a:xfrm>
            <a:off x="7528560" y="2926762"/>
            <a:ext cx="1823904" cy="1273699"/>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6" name="Metin kutusu 15">
            <a:extLst>
              <a:ext uri="{FF2B5EF4-FFF2-40B4-BE49-F238E27FC236}">
                <a16:creationId xmlns:a16="http://schemas.microsoft.com/office/drawing/2014/main" id="{7CC6446F-B061-F750-88A3-BB654DA9586B}"/>
              </a:ext>
            </a:extLst>
          </p:cNvPr>
          <p:cNvSpPr txBox="1"/>
          <p:nvPr/>
        </p:nvSpPr>
        <p:spPr>
          <a:xfrm>
            <a:off x="9382944" y="3795252"/>
            <a:ext cx="2138209" cy="1200329"/>
          </a:xfrm>
          <a:prstGeom prst="rect">
            <a:avLst/>
          </a:prstGeom>
          <a:noFill/>
        </p:spPr>
        <p:txBody>
          <a:bodyPr wrap="square" rtlCol="0">
            <a:spAutoFit/>
          </a:bodyPr>
          <a:lstStyle/>
          <a:p>
            <a:r>
              <a:rPr lang="tr-TR" b="1" dirty="0" err="1"/>
              <a:t>CommandButton</a:t>
            </a:r>
            <a:r>
              <a:rPr lang="tr-TR" b="1" dirty="0"/>
              <a:t>: Satış verilerini analiz edin</a:t>
            </a:r>
          </a:p>
          <a:p>
            <a:endParaRPr lang="tr-TR" dirty="0"/>
          </a:p>
        </p:txBody>
      </p:sp>
      <p:cxnSp>
        <p:nvCxnSpPr>
          <p:cNvPr id="18" name="Bağlayıcı: Eğri 17">
            <a:extLst>
              <a:ext uri="{FF2B5EF4-FFF2-40B4-BE49-F238E27FC236}">
                <a16:creationId xmlns:a16="http://schemas.microsoft.com/office/drawing/2014/main" id="{68B9E6E0-96CC-6D64-86C5-1A2245A22316}"/>
              </a:ext>
            </a:extLst>
          </p:cNvPr>
          <p:cNvCxnSpPr>
            <a:cxnSpLocks/>
          </p:cNvCxnSpPr>
          <p:nvPr/>
        </p:nvCxnSpPr>
        <p:spPr>
          <a:xfrm rot="10800000" flipV="1">
            <a:off x="1877962" y="2926762"/>
            <a:ext cx="1140543" cy="868488"/>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Metin kutusu 18">
            <a:extLst>
              <a:ext uri="{FF2B5EF4-FFF2-40B4-BE49-F238E27FC236}">
                <a16:creationId xmlns:a16="http://schemas.microsoft.com/office/drawing/2014/main" id="{73E71EFC-DED4-8F15-9272-96D3D5E3CE9B}"/>
              </a:ext>
            </a:extLst>
          </p:cNvPr>
          <p:cNvSpPr txBox="1"/>
          <p:nvPr/>
        </p:nvSpPr>
        <p:spPr>
          <a:xfrm>
            <a:off x="131915" y="3195087"/>
            <a:ext cx="2133600" cy="1200329"/>
          </a:xfrm>
          <a:prstGeom prst="rect">
            <a:avLst/>
          </a:prstGeom>
          <a:noFill/>
        </p:spPr>
        <p:txBody>
          <a:bodyPr wrap="square" rtlCol="0">
            <a:spAutoFit/>
          </a:bodyPr>
          <a:lstStyle/>
          <a:p>
            <a:r>
              <a:rPr lang="tr-TR" b="1" dirty="0" err="1"/>
              <a:t>CommandButton</a:t>
            </a:r>
            <a:r>
              <a:rPr lang="tr-TR" b="1" dirty="0"/>
              <a:t>: Sheet1'e giriş ekleyin</a:t>
            </a:r>
          </a:p>
          <a:p>
            <a:endParaRPr lang="tr-TR" dirty="0"/>
          </a:p>
        </p:txBody>
      </p:sp>
      <p:cxnSp>
        <p:nvCxnSpPr>
          <p:cNvPr id="21" name="Bağlayıcı: Eğri 20">
            <a:extLst>
              <a:ext uri="{FF2B5EF4-FFF2-40B4-BE49-F238E27FC236}">
                <a16:creationId xmlns:a16="http://schemas.microsoft.com/office/drawing/2014/main" id="{B9D99844-BEAB-A012-4D44-1EFF97A3261A}"/>
              </a:ext>
            </a:extLst>
          </p:cNvPr>
          <p:cNvCxnSpPr>
            <a:cxnSpLocks/>
            <a:endCxn id="25" idx="0"/>
          </p:cNvCxnSpPr>
          <p:nvPr/>
        </p:nvCxnSpPr>
        <p:spPr>
          <a:xfrm rot="10800000" flipV="1">
            <a:off x="1936952" y="3972737"/>
            <a:ext cx="1334568" cy="1271720"/>
          </a:xfrm>
          <a:prstGeom prst="curved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5" name="Metin kutusu 24">
            <a:extLst>
              <a:ext uri="{FF2B5EF4-FFF2-40B4-BE49-F238E27FC236}">
                <a16:creationId xmlns:a16="http://schemas.microsoft.com/office/drawing/2014/main" id="{4C4974D9-0935-A223-5655-A7574D0E93C1}"/>
              </a:ext>
            </a:extLst>
          </p:cNvPr>
          <p:cNvSpPr txBox="1"/>
          <p:nvPr/>
        </p:nvSpPr>
        <p:spPr>
          <a:xfrm>
            <a:off x="1052048" y="5244457"/>
            <a:ext cx="1769807" cy="1200329"/>
          </a:xfrm>
          <a:prstGeom prst="rect">
            <a:avLst/>
          </a:prstGeom>
          <a:noFill/>
        </p:spPr>
        <p:txBody>
          <a:bodyPr wrap="square" rtlCol="0">
            <a:spAutoFit/>
          </a:bodyPr>
          <a:lstStyle/>
          <a:p>
            <a:r>
              <a:rPr lang="tr-TR" b="1" dirty="0" err="1"/>
              <a:t>ListBox</a:t>
            </a:r>
            <a:r>
              <a:rPr lang="tr-TR" b="1" dirty="0"/>
              <a:t>: Analiz sonuçlarını görüntüleyin</a:t>
            </a:r>
          </a:p>
          <a:p>
            <a:endParaRPr lang="tr-TR" dirty="0"/>
          </a:p>
        </p:txBody>
      </p:sp>
      <p:cxnSp>
        <p:nvCxnSpPr>
          <p:cNvPr id="27" name="Bağlayıcı: Eğri 26">
            <a:extLst>
              <a:ext uri="{FF2B5EF4-FFF2-40B4-BE49-F238E27FC236}">
                <a16:creationId xmlns:a16="http://schemas.microsoft.com/office/drawing/2014/main" id="{45F33170-F391-8086-1F39-9BDC11DB0853}"/>
              </a:ext>
            </a:extLst>
          </p:cNvPr>
          <p:cNvCxnSpPr>
            <a:cxnSpLocks/>
          </p:cNvCxnSpPr>
          <p:nvPr/>
        </p:nvCxnSpPr>
        <p:spPr>
          <a:xfrm>
            <a:off x="4709324" y="4907280"/>
            <a:ext cx="3225308" cy="1257546"/>
          </a:xfrm>
          <a:prstGeom prst="curved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8" name="Metin kutusu 27">
            <a:extLst>
              <a:ext uri="{FF2B5EF4-FFF2-40B4-BE49-F238E27FC236}">
                <a16:creationId xmlns:a16="http://schemas.microsoft.com/office/drawing/2014/main" id="{E3A3F3F5-98ED-35AF-0FB6-10686DAA4D1F}"/>
              </a:ext>
            </a:extLst>
          </p:cNvPr>
          <p:cNvSpPr txBox="1"/>
          <p:nvPr/>
        </p:nvSpPr>
        <p:spPr>
          <a:xfrm>
            <a:off x="8013291" y="5584722"/>
            <a:ext cx="2654709" cy="1200329"/>
          </a:xfrm>
          <a:prstGeom prst="rect">
            <a:avLst/>
          </a:prstGeom>
          <a:noFill/>
        </p:spPr>
        <p:txBody>
          <a:bodyPr wrap="square" rtlCol="0">
            <a:spAutoFit/>
          </a:bodyPr>
          <a:lstStyle/>
          <a:p>
            <a:r>
              <a:rPr lang="en-US" b="1" dirty="0">
                <a:effectLst/>
                <a:latin typeface="Calibri" panose="020F0502020204030204" pitchFamily="34" charset="0"/>
                <a:ea typeface="Calibri" panose="020F0502020204030204" pitchFamily="34" charset="0"/>
                <a:cs typeface="Times New Roman" panose="02020603050405020304" pitchFamily="18" charset="0"/>
              </a:rPr>
              <a:t>Label</a:t>
            </a:r>
            <a:r>
              <a:rPr lang="tr-TR" b="1" dirty="0">
                <a:effectLst/>
                <a:latin typeface="Calibri" panose="020F0502020204030204" pitchFamily="34" charset="0"/>
                <a:ea typeface="Calibri" panose="020F0502020204030204" pitchFamily="34" charset="0"/>
                <a:cs typeface="Times New Roman" panose="02020603050405020304" pitchFamily="18" charset="0"/>
              </a:rPr>
              <a:t>:</a:t>
            </a:r>
            <a:r>
              <a:rPr lang="tr-TR" sz="1200" b="1" dirty="0">
                <a:effectLst/>
                <a:latin typeface="Calibri" panose="020F0502020204030204" pitchFamily="34" charset="0"/>
                <a:ea typeface="Calibri" panose="020F0502020204030204" pitchFamily="34" charset="0"/>
                <a:cs typeface="Times New Roman" panose="02020603050405020304" pitchFamily="18" charset="0"/>
              </a:rPr>
              <a:t> </a:t>
            </a:r>
            <a:r>
              <a:rPr lang="tr-TR" b="1" dirty="0"/>
              <a:t>En çok tercih edilen çiçek rengini görüntüleyin</a:t>
            </a:r>
          </a:p>
          <a:p>
            <a:endParaRPr lang="tr-TR" dirty="0"/>
          </a:p>
        </p:txBody>
      </p:sp>
      <p:sp>
        <p:nvSpPr>
          <p:cNvPr id="2" name="Metin kutusu 1">
            <a:extLst>
              <a:ext uri="{FF2B5EF4-FFF2-40B4-BE49-F238E27FC236}">
                <a16:creationId xmlns:a16="http://schemas.microsoft.com/office/drawing/2014/main" id="{12A6194B-D20D-DA9D-48CA-437E14485F78}"/>
              </a:ext>
            </a:extLst>
          </p:cNvPr>
          <p:cNvSpPr txBox="1"/>
          <p:nvPr/>
        </p:nvSpPr>
        <p:spPr>
          <a:xfrm>
            <a:off x="3515427" y="358425"/>
            <a:ext cx="2556213" cy="523220"/>
          </a:xfrm>
          <a:prstGeom prst="rect">
            <a:avLst/>
          </a:prstGeom>
          <a:noFill/>
        </p:spPr>
        <p:txBody>
          <a:bodyPr wrap="none" rtlCol="0">
            <a:spAutoFit/>
          </a:bodyPr>
          <a:lstStyle/>
          <a:p>
            <a:pPr algn="ctr"/>
            <a:r>
              <a:rPr lang="tr-TR" sz="2800" dirty="0"/>
              <a:t>PROJE ARAYÜZÜ</a:t>
            </a:r>
          </a:p>
        </p:txBody>
      </p:sp>
    </p:spTree>
    <p:extLst>
      <p:ext uri="{BB962C8B-B14F-4D97-AF65-F5344CB8AC3E}">
        <p14:creationId xmlns:p14="http://schemas.microsoft.com/office/powerpoint/2010/main" val="610387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F099CD-38BD-9C5C-5872-39383DE513B3}"/>
              </a:ext>
            </a:extLst>
          </p:cNvPr>
          <p:cNvSpPr>
            <a:spLocks noGrp="1"/>
          </p:cNvSpPr>
          <p:nvPr>
            <p:ph type="title"/>
          </p:nvPr>
        </p:nvSpPr>
        <p:spPr/>
        <p:txBody>
          <a:bodyPr>
            <a:normAutofit/>
          </a:bodyPr>
          <a:lstStyle/>
          <a:p>
            <a:pPr algn="ctr"/>
            <a:r>
              <a:rPr lang="tr-TR" sz="2800" b="0" i="0" dirty="0">
                <a:solidFill>
                  <a:schemeClr val="tx1"/>
                </a:solidFill>
                <a:effectLst/>
                <a:latin typeface="Aptos" panose="020B0004020202020204" pitchFamily="34" charset="0"/>
              </a:rPr>
              <a:t>PROJEDE Kİ İSTATİSTİKSEL/MATEMATİKSEL MODELLER (FORMÜLLER) KULLANIMI</a:t>
            </a:r>
            <a:endParaRPr lang="tr-TR" sz="2800" dirty="0">
              <a:solidFill>
                <a:schemeClr val="tx1"/>
              </a:solidFill>
            </a:endParaRPr>
          </a:p>
        </p:txBody>
      </p:sp>
      <p:sp>
        <p:nvSpPr>
          <p:cNvPr id="3" name="İçerik Yer Tutucusu 2">
            <a:extLst>
              <a:ext uri="{FF2B5EF4-FFF2-40B4-BE49-F238E27FC236}">
                <a16:creationId xmlns:a16="http://schemas.microsoft.com/office/drawing/2014/main" id="{D313493A-86E3-A885-3E37-C78189CC54DD}"/>
              </a:ext>
            </a:extLst>
          </p:cNvPr>
          <p:cNvSpPr>
            <a:spLocks noGrp="1"/>
          </p:cNvSpPr>
          <p:nvPr>
            <p:ph idx="1"/>
          </p:nvPr>
        </p:nvSpPr>
        <p:spPr/>
        <p:txBody>
          <a:bodyPr/>
          <a:lstStyle/>
          <a:p>
            <a:pPr marL="457200" indent="-457200">
              <a:buFont typeface="+mj-lt"/>
              <a:buAutoNum type="arabicPeriod"/>
            </a:pPr>
            <a:r>
              <a:rPr lang="es-ES" sz="2400" dirty="0"/>
              <a:t>Satış Sayım ve Gruplama Matrisi</a:t>
            </a:r>
            <a:r>
              <a:rPr lang="tr-TR" sz="2400" dirty="0"/>
              <a:t> :</a:t>
            </a:r>
          </a:p>
          <a:p>
            <a:r>
              <a:rPr lang="en-US" dirty="0">
                <a:solidFill>
                  <a:srgbClr val="C00000"/>
                </a:solidFill>
              </a:rPr>
              <a:t>Dim </a:t>
            </a:r>
            <a:r>
              <a:rPr lang="en-US" dirty="0" err="1">
                <a:solidFill>
                  <a:srgbClr val="C00000"/>
                </a:solidFill>
              </a:rPr>
              <a:t>satış</a:t>
            </a:r>
            <a:r>
              <a:rPr lang="en-US" dirty="0">
                <a:solidFill>
                  <a:srgbClr val="C00000"/>
                </a:solidFill>
              </a:rPr>
              <a:t>(1 To 5, 1 To 5) As Long</a:t>
            </a:r>
          </a:p>
          <a:p>
            <a:r>
              <a:rPr lang="tr-TR" dirty="0"/>
              <a:t>Her hücre: [tür][renk] kombinasyonuna karşılık gelen toplam satış adedini tutar.</a:t>
            </a:r>
          </a:p>
          <a:p>
            <a:pPr marL="0" indent="0">
              <a:buNone/>
            </a:pPr>
            <a:endParaRPr lang="tr-TR" dirty="0"/>
          </a:p>
          <a:p>
            <a:pPr marL="0" indent="0">
              <a:buNone/>
            </a:pPr>
            <a:r>
              <a:rPr lang="tr-TR" dirty="0">
                <a:solidFill>
                  <a:srgbClr val="C00000"/>
                </a:solidFill>
              </a:rPr>
              <a:t>  satış(</a:t>
            </a:r>
            <a:r>
              <a:rPr lang="tr-TR" dirty="0" err="1">
                <a:solidFill>
                  <a:srgbClr val="C00000"/>
                </a:solidFill>
              </a:rPr>
              <a:t>tIdx</a:t>
            </a:r>
            <a:r>
              <a:rPr lang="tr-TR" dirty="0">
                <a:solidFill>
                  <a:srgbClr val="C00000"/>
                </a:solidFill>
              </a:rPr>
              <a:t> + 1, </a:t>
            </a:r>
            <a:r>
              <a:rPr lang="tr-TR" dirty="0" err="1">
                <a:solidFill>
                  <a:srgbClr val="C00000"/>
                </a:solidFill>
              </a:rPr>
              <a:t>rIdx</a:t>
            </a:r>
            <a:r>
              <a:rPr lang="tr-TR" dirty="0">
                <a:solidFill>
                  <a:srgbClr val="C00000"/>
                </a:solidFill>
              </a:rPr>
              <a:t> + 1) = satış(</a:t>
            </a:r>
            <a:r>
              <a:rPr lang="tr-TR" dirty="0" err="1">
                <a:solidFill>
                  <a:srgbClr val="C00000"/>
                </a:solidFill>
              </a:rPr>
              <a:t>tIdx</a:t>
            </a:r>
            <a:r>
              <a:rPr lang="tr-TR" dirty="0">
                <a:solidFill>
                  <a:srgbClr val="C00000"/>
                </a:solidFill>
              </a:rPr>
              <a:t> + 1, </a:t>
            </a:r>
            <a:r>
              <a:rPr lang="tr-TR" dirty="0" err="1">
                <a:solidFill>
                  <a:srgbClr val="C00000"/>
                </a:solidFill>
              </a:rPr>
              <a:t>rIdx</a:t>
            </a:r>
            <a:r>
              <a:rPr lang="tr-TR" dirty="0">
                <a:solidFill>
                  <a:srgbClr val="C00000"/>
                </a:solidFill>
              </a:rPr>
              <a:t> + 1) + adet</a:t>
            </a:r>
          </a:p>
          <a:p>
            <a:pPr marL="0" indent="0">
              <a:buNone/>
            </a:pPr>
            <a:r>
              <a:rPr lang="tr-TR" dirty="0"/>
              <a:t>Her bir satış için ilgili renk ve tür hücresine,</a:t>
            </a:r>
            <a:r>
              <a:rPr lang="tr-TR" dirty="0">
                <a:solidFill>
                  <a:srgbClr val="C00000"/>
                </a:solidFill>
              </a:rPr>
              <a:t> </a:t>
            </a:r>
            <a:r>
              <a:rPr lang="tr-TR" dirty="0"/>
              <a:t>adet</a:t>
            </a:r>
            <a:r>
              <a:rPr lang="tr-TR" dirty="0">
                <a:solidFill>
                  <a:srgbClr val="C00000"/>
                </a:solidFill>
              </a:rPr>
              <a:t> </a:t>
            </a:r>
            <a:r>
              <a:rPr lang="tr-TR" dirty="0"/>
              <a:t>değeri </a:t>
            </a:r>
            <a:r>
              <a:rPr lang="tr-TR" b="1" dirty="0"/>
              <a:t>eklenir</a:t>
            </a:r>
            <a:r>
              <a:rPr lang="tr-TR" dirty="0"/>
              <a:t>.</a:t>
            </a:r>
          </a:p>
          <a:p>
            <a:pPr marL="0" indent="0">
              <a:buNone/>
            </a:pPr>
            <a:r>
              <a:rPr lang="tr-TR" dirty="0"/>
              <a:t>Bu, veri seti boyunca bir </a:t>
            </a:r>
            <a:r>
              <a:rPr lang="tr-TR" b="1" dirty="0"/>
              <a:t>kümülatif toplam</a:t>
            </a:r>
            <a:r>
              <a:rPr lang="tr-TR" dirty="0"/>
              <a:t> hesaplamasıdır.</a:t>
            </a:r>
          </a:p>
          <a:p>
            <a:pPr marL="0" indent="0">
              <a:buNone/>
            </a:pPr>
            <a:endParaRPr lang="tr-TR" dirty="0">
              <a:solidFill>
                <a:srgbClr val="C00000"/>
              </a:solidFill>
            </a:endParaRPr>
          </a:p>
          <a:p>
            <a:pPr marL="0" indent="0">
              <a:buNone/>
            </a:pPr>
            <a:endParaRPr lang="tr-TR" dirty="0">
              <a:solidFill>
                <a:srgbClr val="C00000"/>
              </a:solidFill>
            </a:endParaRPr>
          </a:p>
          <a:p>
            <a:endParaRPr lang="tr-TR" dirty="0"/>
          </a:p>
        </p:txBody>
      </p:sp>
    </p:spTree>
    <p:extLst>
      <p:ext uri="{BB962C8B-B14F-4D97-AF65-F5344CB8AC3E}">
        <p14:creationId xmlns:p14="http://schemas.microsoft.com/office/powerpoint/2010/main" val="496583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4C9F73-7E15-9B90-1A57-14DDB9AF48FE}"/>
              </a:ext>
            </a:extLst>
          </p:cNvPr>
          <p:cNvSpPr>
            <a:spLocks noGrp="1"/>
          </p:cNvSpPr>
          <p:nvPr>
            <p:ph type="title"/>
          </p:nvPr>
        </p:nvSpPr>
        <p:spPr/>
        <p:txBody>
          <a:bodyPr/>
          <a:lstStyle/>
          <a:p>
            <a:pPr algn="ctr"/>
            <a:r>
              <a:rPr lang="tr-TR" dirty="0"/>
              <a:t>DATA</a:t>
            </a:r>
          </a:p>
        </p:txBody>
      </p:sp>
      <p:sp>
        <p:nvSpPr>
          <p:cNvPr id="3" name="İçerik Yer Tutucusu 2">
            <a:extLst>
              <a:ext uri="{FF2B5EF4-FFF2-40B4-BE49-F238E27FC236}">
                <a16:creationId xmlns:a16="http://schemas.microsoft.com/office/drawing/2014/main" id="{827BFC7F-1D18-A7D1-F395-CD94C79D948A}"/>
              </a:ext>
            </a:extLst>
          </p:cNvPr>
          <p:cNvSpPr>
            <a:spLocks noGrp="1"/>
          </p:cNvSpPr>
          <p:nvPr>
            <p:ph idx="1"/>
          </p:nvPr>
        </p:nvSpPr>
        <p:spPr/>
        <p:txBody>
          <a:bodyPr/>
          <a:lstStyle/>
          <a:p>
            <a:r>
              <a:rPr lang="tr-TR" dirty="0"/>
              <a:t> Her kayıt aşağıdaki maddeleri içerir</a:t>
            </a:r>
          </a:p>
          <a:p>
            <a:pPr>
              <a:buFont typeface="Arial" panose="020B0604020202020204" pitchFamily="34" charset="0"/>
              <a:buChar char="•"/>
            </a:pPr>
            <a:r>
              <a:rPr lang="tr-TR" dirty="0"/>
              <a:t> Zaman damgası (Şimdi işlevi kullanılarak kaydedilir ve "</a:t>
            </a:r>
            <a:r>
              <a:rPr lang="tr-TR" dirty="0" err="1"/>
              <a:t>gg.aa.yyyy</a:t>
            </a:r>
            <a:r>
              <a:rPr lang="tr-TR" dirty="0"/>
              <a:t> </a:t>
            </a:r>
            <a:r>
              <a:rPr lang="tr-TR" dirty="0" err="1"/>
              <a:t>ss:dd:ss</a:t>
            </a:r>
            <a:r>
              <a:rPr lang="tr-TR" dirty="0"/>
              <a:t>" olarak biçimlendirilir)</a:t>
            </a:r>
          </a:p>
          <a:p>
            <a:pPr>
              <a:buFont typeface="Arial" panose="020B0604020202020204" pitchFamily="34" charset="0"/>
              <a:buChar char="•"/>
            </a:pPr>
            <a:r>
              <a:rPr lang="tr-TR" dirty="0"/>
              <a:t> Çiçek Rengi</a:t>
            </a:r>
          </a:p>
          <a:p>
            <a:pPr>
              <a:buFont typeface="Arial" panose="020B0604020202020204" pitchFamily="34" charset="0"/>
              <a:buChar char="•"/>
            </a:pPr>
            <a:r>
              <a:rPr lang="tr-TR" dirty="0">
                <a:solidFill>
                  <a:schemeClr val="tx1"/>
                </a:solidFill>
              </a:rPr>
              <a:t> </a:t>
            </a:r>
            <a:r>
              <a:rPr lang="tr-TR" dirty="0"/>
              <a:t>Çiçek Türü</a:t>
            </a:r>
          </a:p>
          <a:p>
            <a:pPr>
              <a:buFont typeface="Arial" panose="020B0604020202020204" pitchFamily="34" charset="0"/>
              <a:buChar char="•"/>
            </a:pPr>
            <a:r>
              <a:rPr lang="tr-TR" dirty="0"/>
              <a:t> Satılan Miktar</a:t>
            </a:r>
          </a:p>
        </p:txBody>
      </p:sp>
    </p:spTree>
    <p:extLst>
      <p:ext uri="{BB962C8B-B14F-4D97-AF65-F5344CB8AC3E}">
        <p14:creationId xmlns:p14="http://schemas.microsoft.com/office/powerpoint/2010/main" val="293058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32D3FD4-6F71-43DF-93B9-87279519C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754787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3DE8E5A2-B46B-3474-9763-524CDCF97619}"/>
              </a:ext>
            </a:extLst>
          </p:cNvPr>
          <p:cNvSpPr>
            <a:spLocks noGrp="1"/>
          </p:cNvSpPr>
          <p:nvPr>
            <p:ph type="title"/>
          </p:nvPr>
        </p:nvSpPr>
        <p:spPr>
          <a:xfrm>
            <a:off x="1097280" y="516835"/>
            <a:ext cx="5977937" cy="1666501"/>
          </a:xfrm>
        </p:spPr>
        <p:txBody>
          <a:bodyPr>
            <a:normAutofit/>
          </a:bodyPr>
          <a:lstStyle/>
          <a:p>
            <a:r>
              <a:rPr lang="tr-TR" sz="4000">
                <a:solidFill>
                  <a:srgbClr val="FFFFFF"/>
                </a:solidFill>
              </a:rPr>
              <a:t>SONUÇ</a:t>
            </a:r>
          </a:p>
        </p:txBody>
      </p:sp>
      <p:sp>
        <p:nvSpPr>
          <p:cNvPr id="3" name="İçerik Yer Tutucusu 2">
            <a:extLst>
              <a:ext uri="{FF2B5EF4-FFF2-40B4-BE49-F238E27FC236}">
                <a16:creationId xmlns:a16="http://schemas.microsoft.com/office/drawing/2014/main" id="{96CC53E6-8113-0F53-0D6C-4C5DDE3CEE91}"/>
              </a:ext>
            </a:extLst>
          </p:cNvPr>
          <p:cNvSpPr>
            <a:spLocks noGrp="1"/>
          </p:cNvSpPr>
          <p:nvPr>
            <p:ph idx="1"/>
          </p:nvPr>
        </p:nvSpPr>
        <p:spPr>
          <a:xfrm>
            <a:off x="1097279" y="2236304"/>
            <a:ext cx="5977938" cy="3652667"/>
          </a:xfrm>
        </p:spPr>
        <p:txBody>
          <a:bodyPr>
            <a:normAutofit/>
          </a:bodyPr>
          <a:lstStyle/>
          <a:p>
            <a:r>
              <a:rPr lang="tr-TR" sz="1800">
                <a:solidFill>
                  <a:srgbClr val="FFFFFF"/>
                </a:solidFill>
              </a:rPr>
              <a:t>Uygulamanın ardından geliştirilen DSS sistemi, çiçek satış verilerini renk ve türe göre düzenli ve güvenilir biçimde kaydetmiş, güçlü analiz yetenekleriyle en çok satılan ürünleri anlık olarak tespit etmiştir. Kümelenmiş sütun grafiklerle görselleştirilen bu veriler, kullanıcıların stok yönetimini rastgele tahminlerden çıkararak veri odaklı ve stratejik kararlarla yönlendirmesini sağlamıştır. Sistem, yalnızca analiz yapan bir araç olmanın ötesine geçerek, işletmelerin operasyonel verimliliğini artıran, zamandan ve maliyetten tasarruf ettiren, kullanıcı dostu bir karar destek platformuna dönüşmüştür.</a:t>
            </a:r>
          </a:p>
        </p:txBody>
      </p:sp>
      <p:sp>
        <p:nvSpPr>
          <p:cNvPr id="11" name="Rectangle 10">
            <a:extLst>
              <a:ext uri="{FF2B5EF4-FFF2-40B4-BE49-F238E27FC236}">
                <a16:creationId xmlns:a16="http://schemas.microsoft.com/office/drawing/2014/main" id="{36F207B4-66C3-4A76-8D54-C2871CF809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789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pic>
        <p:nvPicPr>
          <p:cNvPr id="5" name="Picture 4" descr="Farklı renkli TULIP">
            <a:extLst>
              <a:ext uri="{FF2B5EF4-FFF2-40B4-BE49-F238E27FC236}">
                <a16:creationId xmlns:a16="http://schemas.microsoft.com/office/drawing/2014/main" id="{4FC214FC-D652-A6C7-F718-7A08D7CF49F0}"/>
              </a:ext>
            </a:extLst>
          </p:cNvPr>
          <p:cNvPicPr>
            <a:picLocks noChangeAspect="1"/>
          </p:cNvPicPr>
          <p:nvPr/>
        </p:nvPicPr>
        <p:blipFill>
          <a:blip r:embed="rId2"/>
          <a:srcRect l="31358" r="24063" b="-1"/>
          <a:stretch>
            <a:fillRect/>
          </a:stretch>
        </p:blipFill>
        <p:spPr>
          <a:xfrm>
            <a:off x="7611902" y="10"/>
            <a:ext cx="4580097" cy="6857990"/>
          </a:xfrm>
          <a:prstGeom prst="rect">
            <a:avLst/>
          </a:prstGeom>
        </p:spPr>
      </p:pic>
    </p:spTree>
    <p:extLst>
      <p:ext uri="{BB962C8B-B14F-4D97-AF65-F5344CB8AC3E}">
        <p14:creationId xmlns:p14="http://schemas.microsoft.com/office/powerpoint/2010/main" val="3088193561"/>
      </p:ext>
    </p:extLst>
  </p:cSld>
  <p:clrMapOvr>
    <a:masterClrMapping/>
  </p:clrMapOvr>
</p:sld>
</file>

<file path=ppt/theme/theme1.xml><?xml version="1.0" encoding="utf-8"?>
<a:theme xmlns:a="http://schemas.openxmlformats.org/drawingml/2006/main" name="Geçmişe bakış">
  <a:themeElements>
    <a:clrScheme name="Geçmişe bakış">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Geçmişe bakış">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çmişe bakış">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ADAAC11D41E0734E9BF385AEB74A573D" ma:contentTypeVersion="11" ma:contentTypeDescription="Yeni belge oluşturun." ma:contentTypeScope="" ma:versionID="d8cc13e113249490f81732c56745cad2">
  <xsd:schema xmlns:xsd="http://www.w3.org/2001/XMLSchema" xmlns:xs="http://www.w3.org/2001/XMLSchema" xmlns:p="http://schemas.microsoft.com/office/2006/metadata/properties" xmlns:ns2="0f1cc49e-7564-4cde-9917-6647fe08d36f" xmlns:ns3="bd46f709-5e18-4f6d-a6c5-11adade805b3" targetNamespace="http://schemas.microsoft.com/office/2006/metadata/properties" ma:root="true" ma:fieldsID="21c89d8f333918d9df90ab5e0e40636b" ns2:_="" ns3:_="">
    <xsd:import namespace="0f1cc49e-7564-4cde-9917-6647fe08d36f"/>
    <xsd:import namespace="bd46f709-5e18-4f6d-a6c5-11adade805b3"/>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1cc49e-7564-4cde-9917-6647fe08d36f"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Resim Etiketleri" ma:readOnly="false" ma:fieldId="{5cf76f15-5ced-4ddc-b409-7134ff3c332f}" ma:taxonomyMulti="true" ma:sspId="69adc9fa-319b-4521-a2f9-185322eb82b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46f709-5e18-4f6d-a6c5-11adade805b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b9f2704-b66c-4a35-b062-57c96139e15e}" ma:internalName="TaxCatchAll" ma:showField="CatchAllData" ma:web="bd46f709-5e18-4f6d-a6c5-11adade805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f1cc49e-7564-4cde-9917-6647fe08d36f">
      <Terms xmlns="http://schemas.microsoft.com/office/infopath/2007/PartnerControls"/>
    </lcf76f155ced4ddcb4097134ff3c332f>
    <TaxCatchAll xmlns="bd46f709-5e18-4f6d-a6c5-11adade805b3" xsi:nil="true"/>
    <ReferenceId xmlns="0f1cc49e-7564-4cde-9917-6647fe08d36f" xsi:nil="true"/>
  </documentManagement>
</p:properties>
</file>

<file path=customXml/itemProps1.xml><?xml version="1.0" encoding="utf-8"?>
<ds:datastoreItem xmlns:ds="http://schemas.openxmlformats.org/officeDocument/2006/customXml" ds:itemID="{CFE791CE-6CEE-41D5-8F68-EB94FD6E0C02}"/>
</file>

<file path=customXml/itemProps2.xml><?xml version="1.0" encoding="utf-8"?>
<ds:datastoreItem xmlns:ds="http://schemas.openxmlformats.org/officeDocument/2006/customXml" ds:itemID="{24D638ED-4DD8-4AEB-8EAC-D2A61EBE91A0}"/>
</file>

<file path=customXml/itemProps3.xml><?xml version="1.0" encoding="utf-8"?>
<ds:datastoreItem xmlns:ds="http://schemas.openxmlformats.org/officeDocument/2006/customXml" ds:itemID="{0A7AAE32-ADF6-4F1D-8A1D-91454D893942}"/>
</file>

<file path=docProps/app.xml><?xml version="1.0" encoding="utf-8"?>
<Properties xmlns="http://schemas.openxmlformats.org/officeDocument/2006/extended-properties" xmlns:vt="http://schemas.openxmlformats.org/officeDocument/2006/docPropsVTypes">
  <Template>Retrospect</Template>
  <TotalTime>111</TotalTime>
  <Words>561</Words>
  <Application>Microsoft Office PowerPoint</Application>
  <PresentationFormat>Geniş ekran</PresentationFormat>
  <Paragraphs>44</Paragraphs>
  <Slides>9</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9</vt:i4>
      </vt:variant>
    </vt:vector>
  </HeadingPairs>
  <TitlesOfParts>
    <vt:vector size="15" baseType="lpstr">
      <vt:lpstr>Aptos</vt:lpstr>
      <vt:lpstr>Arial</vt:lpstr>
      <vt:lpstr>Calibri</vt:lpstr>
      <vt:lpstr>Calibri Light</vt:lpstr>
      <vt:lpstr>Wingdings</vt:lpstr>
      <vt:lpstr>Geçmişe bakış</vt:lpstr>
      <vt:lpstr>Data Intelligence and Decision Support Systems Project Assignment </vt:lpstr>
      <vt:lpstr>PROJE AMACI</vt:lpstr>
      <vt:lpstr>PROJE HEDEFİ</vt:lpstr>
      <vt:lpstr>PowerPoint Sunusu</vt:lpstr>
      <vt:lpstr>Projeye ait veri seti nasıl kullanılmıştır?</vt:lpstr>
      <vt:lpstr>PowerPoint Sunusu</vt:lpstr>
      <vt:lpstr>PROJEDE Kİ İSTATİSTİKSEL/MATEMATİKSEL MODELLER (FORMÜLLER) KULLANIMI</vt:lpstr>
      <vt:lpstr>DATA</vt:lpstr>
      <vt:lpstr>SONUÇ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Fevzi Samed Ünal</dc:creator>
  <cp:lastModifiedBy>Fevzi Samed Ünal</cp:lastModifiedBy>
  <cp:revision>3</cp:revision>
  <dcterms:created xsi:type="dcterms:W3CDTF">2025-05-21T11:02:53Z</dcterms:created>
  <dcterms:modified xsi:type="dcterms:W3CDTF">2025-05-21T13:30:36Z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0x010100ADAAC11D41E0734E9BF385AEB74A573D</vt:lpwstr>
  </property>
</Properties>
</file>